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302" r:id="rId3"/>
    <p:sldId id="301" r:id="rId4"/>
    <p:sldId id="284" r:id="rId5"/>
    <p:sldId id="283" r:id="rId6"/>
    <p:sldId id="282" r:id="rId7"/>
    <p:sldId id="281" r:id="rId8"/>
    <p:sldId id="263" r:id="rId9"/>
    <p:sldId id="289" r:id="rId10"/>
    <p:sldId id="299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75" r:id="rId19"/>
    <p:sldId id="258" r:id="rId20"/>
    <p:sldId id="300" r:id="rId21"/>
    <p:sldId id="259" r:id="rId22"/>
  </p:sldIdLst>
  <p:sldSz cx="12192000" cy="6858000"/>
  <p:notesSz cx="6858000" cy="9144000"/>
  <p:embeddedFontLst>
    <p:embeddedFont>
      <p:font typeface="Baskerville Old Face" panose="02020602080505020303" pitchFamily="18" charset="0"/>
      <p:regular r:id="rId24"/>
    </p:embeddedFont>
    <p:embeddedFont>
      <p:font typeface="Bookman Old Style" panose="02050604050505020204" pitchFamily="18" charset="0"/>
      <p:regular r:id="rId25"/>
      <p:bold r:id="rId26"/>
      <p:italic r:id="rId27"/>
      <p:boldItalic r:id="rId28"/>
    </p:embeddedFont>
    <p:embeddedFont>
      <p:font typeface="Lato Black" panose="020F0502020204030203" pitchFamily="34" charset="0"/>
      <p:bold r:id="rId29"/>
    </p:embeddedFont>
    <p:embeddedFont>
      <p:font typeface="Libre Baskerville" panose="02000000000000000000" pitchFamily="2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dirty="0"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>
            <a:normAutofit/>
          </a:bodyPr>
          <a:lstStyle>
            <a:lvl1pPr algn="l" fontAlgn="base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92" y="-127820"/>
            <a:ext cx="12191408" cy="637130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2759076" y="3797935"/>
            <a:ext cx="7702448" cy="1384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sym typeface="+mn-ea"/>
              </a:rPr>
              <a:t>-Analysis on prices of the Smart Phones available in </a:t>
            </a:r>
            <a:r>
              <a:rPr lang="en-US" sz="2800" b="1" dirty="0" err="1">
                <a:solidFill>
                  <a:schemeClr val="tx1"/>
                </a:solidFill>
                <a:latin typeface="Calibri" panose="020F0502020204030204" pitchFamily="34" charset="0"/>
                <a:sym typeface="+mn-ea"/>
              </a:rPr>
              <a:t>flipkart</a:t>
            </a:r>
            <a:br>
              <a:rPr lang="en-US" sz="2800" b="1" dirty="0">
                <a:solidFill>
                  <a:schemeClr val="tx1"/>
                </a:solidFill>
                <a:sym typeface="+mn-ea"/>
              </a:rPr>
            </a:br>
            <a:endParaRPr lang="en-US" sz="2800" b="1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521502" y="1181185"/>
            <a:ext cx="11444355" cy="5076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n-IN" sz="3200" b="1" dirty="0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Name</a:t>
            </a:r>
            <a:r>
              <a:rPr lang="en-IN" sz="1800" b="1" dirty="0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IN" sz="18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r>
              <a:rPr lang="en-IN" sz="1800" b="1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IN" sz="3200" b="1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Jadala Manikanta</a:t>
            </a:r>
            <a:endParaRPr lang="en-IN" sz="3200" b="1" dirty="0">
              <a:solidFill>
                <a:schemeClr val="tx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lvl="0">
              <a:buClr>
                <a:schemeClr val="dk1"/>
              </a:buClr>
              <a:buSzPts val="1800"/>
            </a:pPr>
            <a:endParaRPr lang="en-IN" sz="18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lvl="0">
              <a:buClr>
                <a:schemeClr val="dk1"/>
              </a:buClr>
              <a:buSzPts val="1800"/>
            </a:pPr>
            <a:r>
              <a:rPr lang="en-US" altLang="en-IN" sz="3200" b="1" dirty="0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Background </a:t>
            </a:r>
            <a:r>
              <a:rPr lang="en-IN" sz="3200" b="1" dirty="0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</a:t>
            </a:r>
            <a:r>
              <a:rPr lang="en-US" altLang="en-IN" sz="3200" b="1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B.tech</a:t>
            </a:r>
            <a:r>
              <a:rPr lang="en-IN" sz="3200" b="1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(Computer Science</a:t>
            </a:r>
            <a:r>
              <a:rPr lang="en-US" altLang="en-IN" sz="3200" b="1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Engineering</a:t>
            </a:r>
            <a:r>
              <a:rPr lang="en-IN" sz="3200" b="1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</a:p>
          <a:p>
            <a:pPr lvl="0">
              <a:buClr>
                <a:schemeClr val="dk1"/>
              </a:buClr>
              <a:buSzPts val="1800"/>
            </a:pPr>
            <a:endParaRPr lang="en-IN" sz="2800" b="1" dirty="0">
              <a:solidFill>
                <a:schemeClr val="accen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lvl="0">
              <a:buClr>
                <a:schemeClr val="dk1"/>
              </a:buClr>
              <a:buSzPts val="1800"/>
            </a:pPr>
            <a:r>
              <a:rPr lang="en-IN" sz="3200" b="1" dirty="0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Batch No</a:t>
            </a:r>
            <a:r>
              <a:rPr lang="en-IN" sz="28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4</a:t>
            </a:r>
            <a:r>
              <a:rPr lang="en-US" altLang="en-IN" sz="28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58</a:t>
            </a:r>
            <a:endParaRPr lang="en-IN" sz="28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lvl="0">
              <a:buClr>
                <a:schemeClr val="dk1"/>
              </a:buClr>
              <a:buSzPts val="1800"/>
            </a:pPr>
            <a:endParaRPr lang="en-IN" sz="28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lvl="0">
              <a:buClr>
                <a:schemeClr val="dk1"/>
              </a:buClr>
              <a:buSzPts val="1800"/>
            </a:pPr>
            <a:r>
              <a:rPr lang="en-IN" sz="3200" b="1" dirty="0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Course</a:t>
            </a:r>
            <a:r>
              <a:rPr lang="en-IN" sz="2800" b="1" dirty="0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IN" sz="28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 Data </a:t>
            </a:r>
            <a:r>
              <a:rPr lang="en-US" altLang="en-IN" sz="28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Analysis</a:t>
            </a:r>
            <a:endParaRPr lang="en-IN" sz="28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lvl="0">
              <a:buClr>
                <a:schemeClr val="dk1"/>
              </a:buClr>
              <a:buSzPts val="1800"/>
            </a:pPr>
            <a:endParaRPr lang="en-IN" sz="18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lvl="0">
              <a:buClr>
                <a:schemeClr val="dk1"/>
              </a:buClr>
              <a:buSzPts val="1800"/>
            </a:pPr>
            <a:r>
              <a:rPr lang="en-IN" sz="3200" b="1" dirty="0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Linkdin</a:t>
            </a:r>
            <a:r>
              <a:rPr lang="en-IN" sz="1800" b="1" dirty="0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IN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</a:t>
            </a:r>
            <a:r>
              <a:rPr lang="en-US" altLang="en-US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https://www.linkedin.com/in/manikanta-jadala-6930a5320</a:t>
            </a:r>
          </a:p>
          <a:p>
            <a:pPr lvl="0">
              <a:buClr>
                <a:schemeClr val="dk1"/>
              </a:buClr>
              <a:buSzPts val="1800"/>
            </a:pPr>
            <a:endParaRPr lang="en-IN" sz="18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IN" sz="18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 want to learn Data Analysis to turn real-world data into useful insights that support smarter decisions.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 enables practical, data-driven problem solving and provides strong career growth opportunities.</a:t>
            </a:r>
          </a:p>
        </p:txBody>
      </p:sp>
      <p:sp>
        <p:nvSpPr>
          <p:cNvPr id="105" name="Google Shape;105;p3"/>
          <p:cNvSpPr txBox="1"/>
          <p:nvPr/>
        </p:nvSpPr>
        <p:spPr>
          <a:xfrm>
            <a:off x="4782185" y="107950"/>
            <a:ext cx="2627630" cy="877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 panose="020F0502020204030203"/>
              <a:buNone/>
            </a:pPr>
            <a:r>
              <a:rPr lang="en-US" altLang="en-IN" sz="3200" b="0" i="0" u="sng" strike="noStrike" cap="none" dirty="0">
                <a:solidFill>
                  <a:srgbClr val="C00000"/>
                </a:solidFill>
                <a:latin typeface="Lato Black" panose="020F0502020204030203"/>
                <a:ea typeface="Lato Black" panose="020F0502020204030203"/>
                <a:cs typeface="Lato Black" panose="020F0502020204030203"/>
                <a:sym typeface="Lato Black" panose="020F0502020204030203"/>
              </a:rPr>
              <a:t>                                       </a:t>
            </a:r>
            <a:r>
              <a:rPr lang="en-IN" sz="3200" b="0" i="0" u="sng" strike="noStrike" cap="none" dirty="0">
                <a:solidFill>
                  <a:srgbClr val="C00000"/>
                </a:solidFill>
                <a:latin typeface="Lato Black" panose="020F0502020204030203"/>
                <a:ea typeface="Lato Black" panose="020F0502020204030203"/>
                <a:cs typeface="Lato Black" panose="020F0502020204030203"/>
                <a:sym typeface="Lato Black" panose="020F0502020204030203"/>
              </a:rPr>
              <a:t>About me</a:t>
            </a:r>
            <a:endParaRPr lang="en-IN" altLang="en-IN" sz="3200" b="0" i="0" u="sng" strike="noStrike" cap="none" dirty="0">
              <a:solidFill>
                <a:srgbClr val="C00000"/>
              </a:solidFill>
              <a:latin typeface="Lato Black" panose="020F0502020204030203"/>
              <a:ea typeface="Lato Black" panose="020F0502020204030203"/>
              <a:cs typeface="Lato Black" panose="020F0502020204030203"/>
              <a:sym typeface="Lato Black" panose="020F05020202040302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245805"/>
            <a:ext cx="9144000" cy="1524000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C00000"/>
                </a:solidFill>
                <a:latin typeface="Baskerville Old Face" panose="02020602080505020303" pitchFamily="18" charset="0"/>
              </a:rPr>
              <a:t>Business Problem and Use case domain understanding</a:t>
            </a:r>
            <a:br>
              <a:rPr lang="en-US" sz="3200" u="sng" dirty="0">
                <a:solidFill>
                  <a:srgbClr val="C00000"/>
                </a:solidFill>
              </a:rPr>
            </a:br>
            <a:endParaRPr lang="en-US" sz="3200" u="sng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524000"/>
            <a:ext cx="12007850" cy="2220595"/>
          </a:xfrm>
        </p:spPr>
        <p:txBody>
          <a:bodyPr>
            <a:normAutofit lnSpcReduction="10000"/>
          </a:bodyPr>
          <a:lstStyle/>
          <a:p>
            <a:endParaRPr lang="en-US" b="1" dirty="0"/>
          </a:p>
          <a:p>
            <a:pPr algn="l">
              <a:buFont typeface="Wingdings" panose="05000000000000000000" charset="0"/>
              <a:buChar char="v"/>
            </a:pPr>
            <a:r>
              <a:rPr lang="en-US" sz="2500" b="1" dirty="0">
                <a:solidFill>
                  <a:schemeClr val="accent1"/>
                </a:solidFill>
              </a:rPr>
              <a:t>Business Problem </a:t>
            </a:r>
            <a:r>
              <a:rPr lang="en-US" b="1" dirty="0">
                <a:solidFill>
                  <a:schemeClr val="accent1"/>
                </a:solidFill>
              </a:rPr>
              <a:t>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endParaRPr lang="en-US" sz="1700" dirty="0">
              <a:solidFill>
                <a:schemeClr val="accent1"/>
              </a:solidFill>
            </a:endParaRPr>
          </a:p>
          <a:p>
            <a:pPr marL="50800" indent="0" algn="l">
              <a:buFont typeface="Wingdings" panose="05000000000000000000" pitchFamily="2" charset="2"/>
            </a:pPr>
            <a:r>
              <a:rPr lang="en-US" sz="2000" dirty="0"/>
              <a:t>                                       </a:t>
            </a:r>
            <a:r>
              <a:rPr lang="en-US" altLang="en-US" sz="2000" dirty="0"/>
              <a:t>Customers and sellers often find it difficult to understand why smartphone prices  vary across brands,</a:t>
            </a:r>
            <a:r>
              <a:rPr lang="en-US" altLang="en-US" sz="2000" dirty="0">
                <a:sym typeface="+mn-ea"/>
              </a:rPr>
              <a:t>specifications, and features.</a:t>
            </a:r>
            <a:endParaRPr lang="en-US" altLang="en-US" sz="2000" dirty="0"/>
          </a:p>
          <a:p>
            <a:pPr marL="3937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There is a lack of clear insight into how factors such as RAM, storage, camera quality, battery capacity, processor, and customer ratings influence the final price.</a:t>
            </a:r>
          </a:p>
          <a:p>
            <a:endParaRPr lang="en-IN" sz="2000" dirty="0"/>
          </a:p>
        </p:txBody>
      </p:sp>
      <p:sp>
        <p:nvSpPr>
          <p:cNvPr id="6" name="Text Box 5"/>
          <p:cNvSpPr txBox="1"/>
          <p:nvPr/>
        </p:nvSpPr>
        <p:spPr>
          <a:xfrm>
            <a:off x="106680" y="3744595"/>
            <a:ext cx="9944100" cy="1460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v"/>
            </a:pPr>
            <a:r>
              <a:rPr lang="en-US" sz="2500" b="1" dirty="0">
                <a:solidFill>
                  <a:schemeClr val="accent1"/>
                </a:solidFill>
                <a:sym typeface="+mn-ea"/>
              </a:rPr>
              <a:t>Use Case </a:t>
            </a:r>
            <a:r>
              <a:rPr lang="en-US" sz="2500" dirty="0">
                <a:solidFill>
                  <a:schemeClr val="accent1"/>
                </a:solidFill>
                <a:sym typeface="+mn-ea"/>
              </a:rPr>
              <a:t>:  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US" sz="2400" dirty="0">
                <a:solidFill>
                  <a:schemeClr val="accent1"/>
                </a:solidFill>
                <a:sym typeface="+mn-ea"/>
              </a:rPr>
              <a:t>                      </a:t>
            </a:r>
            <a:r>
              <a:rPr sz="2000">
                <a:sym typeface="+mn-ea"/>
              </a:rPr>
              <a:t>Helps customers choose value-for-money smartphones.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US" sz="2000">
                <a:sym typeface="+mn-ea"/>
              </a:rPr>
              <a:t>                                </a:t>
            </a:r>
            <a:r>
              <a:rPr sz="2000">
                <a:sym typeface="+mn-ea"/>
              </a:rPr>
              <a:t>Assists retailers in setting competitive prices.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US" sz="2000">
                <a:sym typeface="+mn-ea"/>
              </a:rPr>
              <a:t>                                </a:t>
            </a:r>
            <a:r>
              <a:rPr sz="2000">
                <a:sym typeface="+mn-ea"/>
              </a:rPr>
              <a:t>Supports manufacturers in understanding market demand.</a:t>
            </a:r>
            <a:endParaRPr lang="en-US" sz="2000" dirty="0">
              <a:solidFill>
                <a:schemeClr val="accent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64465" y="207010"/>
            <a:ext cx="6096000" cy="10772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Baskerville Old Face" panose="02020602080505020303" pitchFamily="18" charset="0"/>
                <a:sym typeface="+mn-ea"/>
              </a:rPr>
              <a:t>Objective of the Project</a:t>
            </a:r>
            <a:r>
              <a:rPr lang="en-US" altLang="en-IN" sz="3200" b="1" dirty="0">
                <a:solidFill>
                  <a:srgbClr val="C00000"/>
                </a:solidFill>
                <a:latin typeface="Baskerville Old Face" panose="02020602080505020303" pitchFamily="18" charset="0"/>
                <a:sym typeface="+mn-ea"/>
              </a:rPr>
              <a:t> :</a:t>
            </a:r>
            <a:br>
              <a:rPr lang="en-IN" sz="3200" dirty="0">
                <a:solidFill>
                  <a:srgbClr val="C00000"/>
                </a:solidFill>
                <a:latin typeface="Baskerville Old Face" panose="02020602080505020303" pitchFamily="18" charset="0"/>
                <a:sym typeface="+mn-ea"/>
              </a:rPr>
            </a:br>
            <a:endParaRPr lang="en-IN" sz="3200" dirty="0">
              <a:solidFill>
                <a:srgbClr val="C00000"/>
              </a:solidFill>
              <a:latin typeface="Baskerville Old Face" panose="02020602080505020303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99085" y="1139825"/>
            <a:ext cx="11834495" cy="2765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800">
                <a:sym typeface="+mn-ea"/>
              </a:rPr>
              <a:t>To analyze smartphone pricing based on key features such as brand, RAM, storage, camera quality, battery capacity, processor, and network support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180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800">
                <a:sym typeface="+mn-ea"/>
              </a:rPr>
              <a:t>To understand the relationship between technical specifications and price, identifying which features have the strongest impact on cost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180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800">
                <a:sym typeface="+mn-ea"/>
              </a:rPr>
              <a:t>To study how customer ratings vary across different price ranges and product segments (Budget, Mid-Range, Premium)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180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800">
                <a:sym typeface="+mn-ea"/>
              </a:rPr>
              <a:t>To identify value-for-money smartphones that offer good features with high ratings at reasonable prices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180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800">
                <a:sym typeface="+mn-ea"/>
              </a:rPr>
              <a:t>To perform data visualization using charts and graphs for clearer insights and trend identification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800">
                <a:sym typeface="+mn-ea"/>
              </a:rPr>
              <a:t>To support data-driven decision-making for customers, retailers, and manufacturers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250565" y="18161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Baskerville Old Face" panose="02020602080505020303" pitchFamily="18" charset="0"/>
                <a:sym typeface="+mn-ea"/>
              </a:rPr>
              <a:t>Web Scraping – Details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01370" y="1752600"/>
            <a:ext cx="11284585" cy="19710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Website</a:t>
            </a:r>
            <a:r>
              <a:rPr lang="en-US" sz="2400" dirty="0">
                <a:solidFill>
                  <a:schemeClr val="accent1"/>
                </a:solidFill>
                <a:sym typeface="+mn-ea"/>
              </a:rPr>
              <a:t> </a:t>
            </a:r>
            <a:r>
              <a:rPr sz="2400" dirty="0">
                <a:sym typeface="+mn-ea"/>
              </a:rPr>
              <a:t>: </a:t>
            </a:r>
            <a:r>
              <a:rPr sz="2000" dirty="0">
                <a:sym typeface="+mn-ea"/>
              </a:rPr>
              <a:t>Flipkart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Tools</a:t>
            </a:r>
            <a:r>
              <a:rPr lang="en-US" sz="2800" dirty="0">
                <a:solidFill>
                  <a:schemeClr val="accent1"/>
                </a:solidFill>
                <a:sym typeface="+mn-ea"/>
              </a:rPr>
              <a:t>   </a:t>
            </a:r>
            <a:r>
              <a:rPr sz="2400" dirty="0">
                <a:sym typeface="+mn-ea"/>
              </a:rPr>
              <a:t>: </a:t>
            </a:r>
            <a:r>
              <a:rPr sz="2000" dirty="0">
                <a:sym typeface="+mn-ea"/>
              </a:rPr>
              <a:t>Python, </a:t>
            </a:r>
            <a:r>
              <a:rPr sz="2000" dirty="0" err="1">
                <a:sym typeface="+mn-ea"/>
              </a:rPr>
              <a:t>Requests,BeautifulSoup</a:t>
            </a:r>
            <a:endParaRPr sz="2400" dirty="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-57785" y="1104265"/>
            <a:ext cx="6096000" cy="240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Font typeface="+mj-lt"/>
              <a:buNone/>
            </a:pPr>
            <a:r>
              <a:rPr lang="en-US" sz="3600">
                <a:solidFill>
                  <a:schemeClr val="accent1"/>
                </a:solidFill>
                <a:sym typeface="+mn-ea"/>
              </a:rPr>
              <a:t>1.</a:t>
            </a:r>
            <a:r>
              <a:rPr sz="3600">
                <a:solidFill>
                  <a:schemeClr val="accent1"/>
                </a:solidFill>
                <a:sym typeface="+mn-ea"/>
              </a:rPr>
              <a:t>Data Collection</a:t>
            </a:r>
            <a:r>
              <a:rPr lang="en-US" sz="3600">
                <a:solidFill>
                  <a:schemeClr val="accent1"/>
                </a:solidFill>
                <a:sym typeface="+mn-ea"/>
              </a:rPr>
              <a:t> :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801370" y="2710498"/>
            <a:ext cx="90658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Collected</a:t>
            </a:r>
            <a:r>
              <a:rPr sz="2400" dirty="0">
                <a:solidFill>
                  <a:schemeClr val="accent1"/>
                </a:solidFill>
                <a:sym typeface="+mn-ea"/>
              </a:rPr>
              <a:t> </a:t>
            </a:r>
            <a:r>
              <a:rPr sz="2400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data</a:t>
            </a:r>
            <a:r>
              <a:rPr lang="en-US" sz="2400" b="1" dirty="0">
                <a:solidFill>
                  <a:schemeClr val="accent1"/>
                </a:solidFill>
                <a:sym typeface="+mn-ea"/>
              </a:rPr>
              <a:t> </a:t>
            </a:r>
            <a:r>
              <a:rPr sz="2400" dirty="0">
                <a:sym typeface="+mn-ea"/>
              </a:rPr>
              <a:t>:</a:t>
            </a:r>
            <a:r>
              <a:rPr dirty="0">
                <a:sym typeface="+mn-ea"/>
              </a:rPr>
              <a:t> </a:t>
            </a:r>
            <a:r>
              <a:rPr sz="1800" dirty="0">
                <a:sym typeface="+mn-ea"/>
              </a:rPr>
              <a:t>Brand, RAM, Storage, Price, Camera, Battery, Ratings.</a:t>
            </a:r>
            <a:endParaRPr lang="en-US" sz="1800" dirty="0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0" y="3609023"/>
            <a:ext cx="43218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Font typeface="+mj-lt"/>
              <a:buNone/>
            </a:pPr>
            <a:r>
              <a:rPr lang="en-US" sz="3600" dirty="0">
                <a:solidFill>
                  <a:schemeClr val="accent1"/>
                </a:solidFill>
                <a:sym typeface="+mn-ea"/>
              </a:rPr>
              <a:t>2</a:t>
            </a:r>
            <a:r>
              <a:rPr lang="en-US" sz="3600" dirty="0">
                <a:sym typeface="+mn-ea"/>
              </a:rPr>
              <a:t>. </a:t>
            </a:r>
            <a:r>
              <a:rPr sz="3600" dirty="0">
                <a:solidFill>
                  <a:schemeClr val="accent1"/>
                </a:solidFill>
                <a:sym typeface="+mn-ea"/>
              </a:rPr>
              <a:t>Data Cleaning</a:t>
            </a:r>
            <a:r>
              <a:rPr lang="en-US" sz="3600" dirty="0">
                <a:solidFill>
                  <a:schemeClr val="accent1"/>
                </a:solidFill>
                <a:sym typeface="+mn-ea"/>
              </a:rPr>
              <a:t> :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801370" y="4381818"/>
            <a:ext cx="7696835" cy="1198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sym typeface="+mn-ea"/>
              </a:rPr>
              <a:t>Removed missing and duplicate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sym typeface="+mn-ea"/>
              </a:rPr>
              <a:t>Converted data into proper formats.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sym typeface="+mn-ea"/>
              </a:rPr>
              <a:t>Stored cleaned data in a structured </a:t>
            </a:r>
            <a:r>
              <a:rPr sz="2400" dirty="0" err="1">
                <a:sym typeface="+mn-ea"/>
              </a:rPr>
              <a:t>DataFrame</a:t>
            </a:r>
            <a:r>
              <a:rPr dirty="0">
                <a:sym typeface="+mn-ea"/>
              </a:rPr>
              <a:t>.</a:t>
            </a:r>
            <a:endParaRPr lang="en-US" dirty="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342900"/>
            <a:ext cx="69830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sym typeface="+mn-ea"/>
              </a:rPr>
              <a:t>3</a:t>
            </a:r>
            <a:r>
              <a:rPr lang="en-US" sz="3600" dirty="0">
                <a:sym typeface="+mn-ea"/>
              </a:rPr>
              <a:t>. </a:t>
            </a:r>
            <a:r>
              <a:rPr sz="3600" b="1" dirty="0">
                <a:solidFill>
                  <a:schemeClr val="accent1"/>
                </a:solidFill>
                <a:sym typeface="+mn-ea"/>
              </a:rPr>
              <a:t>Exploratory Data Analysis</a:t>
            </a:r>
            <a:r>
              <a:rPr lang="en-US" sz="3600" dirty="0">
                <a:solidFill>
                  <a:schemeClr val="accent1"/>
                </a:solidFill>
                <a:sym typeface="+mn-ea"/>
              </a:rPr>
              <a:t> :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55955" y="1102360"/>
            <a:ext cx="9277985" cy="1419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Analyzed price distribution and ratings.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Studied feature impact on pricing.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Segmented products into Budget, Mid-range, and Premium.</a:t>
            </a:r>
            <a:endParaRPr lang="en-US" sz="240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6520" y="3208020"/>
            <a:ext cx="49187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sym typeface="+mn-ea"/>
              </a:rPr>
              <a:t>4</a:t>
            </a:r>
            <a:r>
              <a:rPr lang="en-US" sz="3600" dirty="0">
                <a:sym typeface="+mn-ea"/>
              </a:rPr>
              <a:t>. </a:t>
            </a:r>
            <a:r>
              <a:rPr sz="3600" b="1" dirty="0">
                <a:solidFill>
                  <a:schemeClr val="accent1"/>
                </a:solidFill>
                <a:sym typeface="+mn-ea"/>
              </a:rPr>
              <a:t>Data Cleaning</a:t>
            </a:r>
            <a:r>
              <a:rPr lang="en-US" sz="3600" dirty="0">
                <a:solidFill>
                  <a:schemeClr val="accent1"/>
                </a:solidFill>
                <a:sym typeface="+mn-ea"/>
              </a:rPr>
              <a:t> :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732790" y="3938270"/>
            <a:ext cx="7590790" cy="8331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Removed missing and duplicate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Converted data into proper formats.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Stored cleaned data in a structured DataFrame.</a:t>
            </a:r>
            <a:endParaRPr lang="en-US" sz="240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-501445" y="552880"/>
            <a:ext cx="1025334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400" dirty="0">
                <a:sym typeface="+mn-ea"/>
              </a:rPr>
              <a:t>                          </a:t>
            </a:r>
            <a:r>
              <a:rPr lang="en-US" sz="4400" dirty="0">
                <a:solidFill>
                  <a:schemeClr val="accent1"/>
                </a:solidFill>
                <a:sym typeface="+mn-ea"/>
              </a:rPr>
              <a:t>5</a:t>
            </a:r>
            <a:r>
              <a:rPr lang="en-US" sz="4400" dirty="0">
                <a:sym typeface="+mn-ea"/>
              </a:rPr>
              <a:t>.  </a:t>
            </a:r>
            <a:r>
              <a:rPr sz="4400" dirty="0">
                <a:solidFill>
                  <a:schemeClr val="accent1"/>
                </a:solidFill>
                <a:sym typeface="+mn-ea"/>
              </a:rPr>
              <a:t>Visualization</a:t>
            </a:r>
            <a:r>
              <a:rPr lang="en-US" sz="4400" dirty="0">
                <a:solidFill>
                  <a:schemeClr val="accent1"/>
                </a:solidFill>
                <a:sym typeface="+mn-ea"/>
              </a:rPr>
              <a:t>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86080" y="2105967"/>
            <a:ext cx="1158430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sz="3600">
                <a:sym typeface="+mn-ea"/>
              </a:rPr>
              <a:t>Used charts and graphs to identify trends.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>
                <a:sym typeface="+mn-ea"/>
              </a:rPr>
              <a:t>Compared prices across brands and segments.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>
                <a:sym typeface="+mn-ea"/>
              </a:rPr>
              <a:t>Created correlation heatmaps.</a:t>
            </a:r>
            <a:endParaRPr lang="en-US" sz="3600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Summary of the Data </a:t>
            </a:r>
            <a:br>
              <a:rPr lang="en-IN" dirty="0">
                <a:solidFill>
                  <a:srgbClr val="C00000"/>
                </a:solidFill>
              </a:rPr>
            </a:b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423545" y="1092200"/>
            <a:ext cx="10515600" cy="4351338"/>
          </a:xfrm>
        </p:spPr>
        <p:txBody>
          <a:bodyPr>
            <a:noAutofit/>
          </a:bodyPr>
          <a:lstStyle/>
          <a:p>
            <a:pPr>
              <a:buFont typeface="Wingdings" panose="05000000000000000000" charset="0"/>
              <a:buChar char="v"/>
            </a:pPr>
            <a:r>
              <a:rPr lang="en-US" altLang="en-US" sz="2400" dirty="0"/>
              <a:t>The dataset consists of smartphone information gathered from various e-commerce platforms.</a:t>
            </a:r>
          </a:p>
          <a:p>
            <a:pPr>
              <a:buFont typeface="Wingdings" panose="05000000000000000000" charset="0"/>
              <a:buChar char="v"/>
            </a:pPr>
            <a:r>
              <a:rPr lang="en-US" altLang="en-US" sz="2400" dirty="0"/>
              <a:t>It covers attributes such as brand, RAM, storage, camera specifications, battery capacity, operating system, user ratings, and price.</a:t>
            </a:r>
          </a:p>
          <a:p>
            <a:pPr>
              <a:buFont typeface="Wingdings" panose="05000000000000000000" charset="0"/>
              <a:buChar char="v"/>
            </a:pPr>
            <a:r>
              <a:rPr lang="en-US" altLang="en-US" sz="2400" dirty="0"/>
              <a:t>The data includes a mix of quantitative features (like price, RAM, battery) and qualitative features (such as brand and OS).</a:t>
            </a:r>
          </a:p>
          <a:p>
            <a:pPr>
              <a:buFont typeface="Wingdings" panose="05000000000000000000" charset="0"/>
              <a:buChar char="v"/>
            </a:pPr>
            <a:r>
              <a:rPr lang="en-US" altLang="en-US" sz="2400" dirty="0"/>
              <a:t>Data preprocessing was carried out to remove inconsistencies, correct errors, and manage missing entries.</a:t>
            </a:r>
          </a:p>
          <a:p>
            <a:pPr>
              <a:buFont typeface="Wingdings" panose="05000000000000000000" charset="0"/>
              <a:buChar char="v"/>
            </a:pPr>
            <a:r>
              <a:rPr lang="en-US" altLang="en-US" sz="2400" dirty="0"/>
              <a:t>This dataset was utilized to analyze smartphone pricing trends and create meaningful visualizations.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139065"/>
            <a:ext cx="8680450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spcBef>
                <a:spcPts val="1000"/>
              </a:spcBef>
            </a:pPr>
            <a:br>
              <a:rPr lang="en-IN" b="1" dirty="0">
                <a:solidFill>
                  <a:srgbClr val="C00000"/>
                </a:solidFill>
                <a:sym typeface="+mn-ea"/>
              </a:rPr>
            </a:br>
            <a:r>
              <a:rPr lang="en-IN" sz="3600" b="1" dirty="0">
                <a:solidFill>
                  <a:srgbClr val="C00000"/>
                </a:solidFill>
                <a:latin typeface="Bookman Old Style" panose="02050604050505020204" pitchFamily="18" charset="0"/>
                <a:sym typeface="+mn-ea"/>
              </a:rPr>
              <a:t>Exploratory Data Analysis:</a:t>
            </a:r>
            <a:r>
              <a:rPr lang="en-IN" b="1" dirty="0">
                <a:solidFill>
                  <a:srgbClr val="C00000"/>
                </a:solidFill>
                <a:latin typeface="Bookman Old Style" panose="02050604050505020204" pitchFamily="18" charset="0"/>
                <a:sym typeface="+mn-ea"/>
              </a:rPr>
              <a:t>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57175" y="1095375"/>
            <a:ext cx="10374630" cy="2872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2200" b="1">
                <a:solidFill>
                  <a:schemeClr val="accent1"/>
                </a:solidFill>
              </a:rPr>
              <a:t>Data Cleaning :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Eliminated duplicate smartphone records from the dataset</a:t>
            </a:r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Treated missing values using suitable techniques such as removal or imputation</a:t>
            </a:r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Converted columns into appropriate numerical and categorical data types</a:t>
            </a:r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Renamed fields to ensure clarity, uniformity, and readability</a:t>
            </a:r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Identified and handled outliers and inconsistent entries to improve data quality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70180" y="4015105"/>
            <a:ext cx="11171555" cy="2872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2200" b="1">
                <a:solidFill>
                  <a:schemeClr val="accent1"/>
                </a:solidFill>
              </a:rPr>
              <a:t>Data Preparation &amp; Manipulation :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Selected relevant smartphone attributes required for analysis</a:t>
            </a:r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Arranged data based on price and key specifications</a:t>
            </a:r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Engineered new features to enhance analytical insights</a:t>
            </a:r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Applied normalization to numerical variables for fair comparison</a:t>
            </a:r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Grouped and filtered data to uncover meaningful trends and patterns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06680" y="362585"/>
            <a:ext cx="6096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sz="4400" b="1" dirty="0">
                <a:solidFill>
                  <a:srgbClr val="C00000"/>
                </a:solidFill>
                <a:latin typeface="Bookman Old Style" panose="02050604050505020204" pitchFamily="18" charset="0"/>
                <a:sym typeface="+mn-ea"/>
              </a:rPr>
              <a:t>Univariate Analysis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75640" y="1593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14300" indent="0">
              <a:buNone/>
            </a:pPr>
            <a:r>
              <a:rPr lang="en-US" b="1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sz="1800" b="1" dirty="0">
                <a:solidFill>
                  <a:schemeClr val="accent1"/>
                </a:solidFill>
                <a:sym typeface="+mn-ea"/>
              </a:rPr>
              <a:t>Univariate Analysis – Price Distribution :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517525" y="2122805"/>
            <a:ext cx="6040755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dirty="0"/>
              <a:t>The histogram represents the distribution of smartphone prices.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dirty="0"/>
              <a:t>Most smartphones are concentrated between ₹7,000 and ₹15,000, showing a strong budget to mid-range segment.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dirty="0"/>
              <a:t>There is a noticeable peak around ₹8,000–₹12,000, indicating this is the most popular price range.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dirty="0"/>
              <a:t>A smaller number of smartphones are priced above ₹15,000, which creates a right-skewed distribution.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dirty="0"/>
              <a:t>The KDE curve confirms that prices are not evenly distributed and instead cluster around specific price bands.</a:t>
            </a:r>
          </a:p>
          <a:p>
            <a:endParaRPr lang="en-US" alt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dirty="0"/>
              <a:t>A few high-priced smartphones (around ₹18,000–₹19,000) act as outliers.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117" y="1539875"/>
            <a:ext cx="5528473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6645" y="472906"/>
            <a:ext cx="8495071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Univariate Analysis – Ratings Distribution :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5795" y="1955631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analysis shows the distribution of customer ratings for refrigerators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products have ratings between 4.0 and 4.5, indicating good customer satisfaction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few refrigerators have low ratings, showing overall positive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distribution is slightly left-skewed, with ratings concentrated at the higher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helps understand overall product quality perception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322" y="1495425"/>
            <a:ext cx="5830529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75590" y="1443990"/>
            <a:ext cx="58197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bar chart shows the </a:t>
            </a:r>
            <a:r>
              <a:rPr lang="en-US" b="1" dirty="0"/>
              <a:t>distribution of smartphones across    different brands</a:t>
            </a:r>
            <a:r>
              <a:rPr lang="en-US" dirty="0"/>
              <a:t> in the dataset.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Motorola models</a:t>
            </a:r>
            <a:r>
              <a:rPr lang="en-US" dirty="0"/>
              <a:t> appear most frequently, indicating a </a:t>
            </a:r>
            <a:r>
              <a:rPr lang="en-US" b="1" dirty="0"/>
              <a:t>strong presence and wider product range</a:t>
            </a:r>
            <a:r>
              <a:rPr lang="en-US" dirty="0"/>
              <a:t> compared to other brands.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Brands such as </a:t>
            </a:r>
            <a:r>
              <a:rPr lang="en-US" b="1" dirty="0"/>
              <a:t>Realme, Poco, Vivo, and Samsung</a:t>
            </a:r>
            <a:r>
              <a:rPr lang="en-US" dirty="0"/>
              <a:t> also have a </a:t>
            </a:r>
            <a:r>
              <a:rPr lang="en-US" b="1" dirty="0"/>
              <a:t>significant number of smartphones</a:t>
            </a:r>
            <a:r>
              <a:rPr lang="en-US" dirty="0"/>
              <a:t>, reflecting their popularity in the market.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brands have a </a:t>
            </a:r>
            <a:r>
              <a:rPr lang="en-US" b="1" dirty="0"/>
              <a:t>moderate count of devices</a:t>
            </a:r>
            <a:r>
              <a:rPr lang="en-US" dirty="0"/>
              <a:t>, suggesting a more </a:t>
            </a:r>
            <a:r>
              <a:rPr lang="en-US" b="1" dirty="0"/>
              <a:t>focused or limited product lineup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variation in bar heights indicates that </a:t>
            </a:r>
            <a:r>
              <a:rPr lang="en-US" b="1" dirty="0"/>
              <a:t>smartphone availability is not evenly distributed across brands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analysis helps identify </a:t>
            </a:r>
            <a:r>
              <a:rPr lang="en-US" b="1" dirty="0"/>
              <a:t>dominant brands</a:t>
            </a:r>
            <a:r>
              <a:rPr lang="en-US" dirty="0"/>
              <a:t>, </a:t>
            </a:r>
            <a:r>
              <a:rPr lang="en-US" b="1" dirty="0"/>
              <a:t>market competition</a:t>
            </a:r>
            <a:r>
              <a:rPr lang="en-US" dirty="0"/>
              <a:t>, and brands with </a:t>
            </a:r>
            <a:r>
              <a:rPr lang="en-US" b="1" dirty="0"/>
              <a:t>lower representation</a:t>
            </a:r>
            <a:r>
              <a:rPr lang="en-US" dirty="0"/>
              <a:t> in the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8233" y="159464"/>
            <a:ext cx="77084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</a:rPr>
              <a:t>Brand-wise Distribution of Smartphones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725" y="819785"/>
            <a:ext cx="5925185" cy="511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81780" y="2232898"/>
            <a:ext cx="723654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Network Type Distribution of Smartphones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pie chart shows the </a:t>
            </a:r>
            <a:r>
              <a:rPr lang="en-US" b="1" dirty="0"/>
              <a:t>distribution of smartphones based on network connectivity</a:t>
            </a:r>
            <a:r>
              <a:rPr lang="en-US" dirty="0"/>
              <a:t> in the dataset.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5G-enabled smartphones form the majority</a:t>
            </a:r>
            <a:r>
              <a:rPr lang="en-US" dirty="0"/>
              <a:t>, indicating a strong shift toward </a:t>
            </a:r>
            <a:r>
              <a:rPr lang="en-US" b="1" dirty="0"/>
              <a:t>next-generation network technology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4G smartphones still account for a significant portion</a:t>
            </a:r>
            <a:r>
              <a:rPr lang="en-US" dirty="0"/>
              <a:t>, showing that they remain widely used and relevant in the market.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difference in percentage shares highlights that </a:t>
            </a:r>
            <a:r>
              <a:rPr lang="en-US" b="1" dirty="0"/>
              <a:t>network support is not evenly distributed</a:t>
            </a:r>
            <a:r>
              <a:rPr lang="en-US" dirty="0"/>
              <a:t> across smartphone models.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analysis helps understand </a:t>
            </a:r>
            <a:r>
              <a:rPr lang="en-US" b="1" dirty="0"/>
              <a:t>technology adoption trends</a:t>
            </a:r>
            <a:r>
              <a:rPr lang="en-US" dirty="0"/>
              <a:t>, </a:t>
            </a:r>
            <a:r>
              <a:rPr lang="en-US" b="1" dirty="0"/>
              <a:t>market readiness for 5G</a:t>
            </a:r>
            <a:r>
              <a:rPr lang="en-US" dirty="0"/>
              <a:t>, and the </a:t>
            </a:r>
            <a:r>
              <a:rPr lang="en-US" b="1" dirty="0"/>
              <a:t>continuing demand for 4G devices</a:t>
            </a:r>
            <a:r>
              <a:rPr lang="en-US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780" y="1662727"/>
            <a:ext cx="212217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Pie chart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1229" y="1257876"/>
            <a:ext cx="31242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1"/>
          <p:cNvSpPr txBox="1"/>
          <p:nvPr/>
        </p:nvSpPr>
        <p:spPr>
          <a:xfrm>
            <a:off x="481780" y="165735"/>
            <a:ext cx="119024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sym typeface="+mn-ea"/>
              </a:rPr>
              <a:t>Univariate Analysis – Smartphone Network Type Distribution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6980" y="1443841"/>
            <a:ext cx="6096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analysis explains how smartphones are grouped into pricing segments such as </a:t>
            </a:r>
            <a:r>
              <a:rPr lang="en-US" b="1" dirty="0"/>
              <a:t>Affordable</a:t>
            </a:r>
            <a:r>
              <a:rPr lang="en-US" dirty="0"/>
              <a:t>, </a:t>
            </a:r>
            <a:r>
              <a:rPr lang="en-US" b="1" dirty="0"/>
              <a:t>Mid-Range</a:t>
            </a:r>
            <a:r>
              <a:rPr lang="en-US" dirty="0"/>
              <a:t>, and </a:t>
            </a:r>
            <a:r>
              <a:rPr lang="en-US" b="1" dirty="0"/>
              <a:t>Premium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Mid-Range segment</a:t>
            </a:r>
            <a:r>
              <a:rPr lang="en-US" dirty="0"/>
              <a:t> contains the largest number of smartphones, indicating strong customer demand and a balance between price and features.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smaller portion of smartphones falls under the Affordable category</a:t>
            </a:r>
            <a:r>
              <a:rPr lang="en-US" dirty="0"/>
              <a:t>, which mainly targets price-sensitive consumers.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Premium segment includes fewer smartphone models</a:t>
            </a:r>
            <a:r>
              <a:rPr lang="en-US" dirty="0"/>
              <a:t>, but these devices are typically priced higher and offer advanced specifications and features.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Overall, this segmentation helps in understanding the </a:t>
            </a:r>
            <a:r>
              <a:rPr lang="en-US" b="1" dirty="0"/>
              <a:t>market structure, brand positioning, and consumer purchasing preferences</a:t>
            </a:r>
            <a:r>
              <a:rPr lang="en-US" dirty="0"/>
              <a:t> within the smartphone industry.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2557" y="983534"/>
            <a:ext cx="5332463" cy="504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902542" y="242190"/>
            <a:ext cx="7703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Univariate Analysis – Distribution of Smartphones by Price Category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54432" y="1726339"/>
            <a:ext cx="599199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box plot illustrates the </a:t>
            </a:r>
            <a:r>
              <a:rPr lang="en-US" b="1" dirty="0"/>
              <a:t>relationship between smartphone RAM capacity and price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Smartphones with </a:t>
            </a:r>
            <a:r>
              <a:rPr lang="en-US" b="1" dirty="0"/>
              <a:t>higher RAM tend to have higher prices</a:t>
            </a:r>
            <a:r>
              <a:rPr lang="en-US" dirty="0"/>
              <a:t>, indicating a positive relationship between RAM size and cost.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Devices with </a:t>
            </a:r>
            <a:r>
              <a:rPr lang="en-US" b="1" dirty="0"/>
              <a:t>4 GB RAM</a:t>
            </a:r>
            <a:r>
              <a:rPr lang="en-US" dirty="0"/>
              <a:t> are mostly priced in the </a:t>
            </a:r>
            <a:r>
              <a:rPr lang="en-US" b="1" dirty="0"/>
              <a:t>lower to mid-range</a:t>
            </a:r>
            <a:r>
              <a:rPr lang="en-US" dirty="0"/>
              <a:t>, reflecting their budget-friendly positioning.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Smartphones with </a:t>
            </a:r>
            <a:r>
              <a:rPr lang="en-US" b="1" dirty="0"/>
              <a:t>6 GB RAM</a:t>
            </a:r>
            <a:r>
              <a:rPr lang="en-US" dirty="0"/>
              <a:t> show a </a:t>
            </a:r>
            <a:r>
              <a:rPr lang="en-US" b="1" dirty="0"/>
              <a:t>wider price spread</a:t>
            </a:r>
            <a:r>
              <a:rPr lang="en-US" dirty="0"/>
              <a:t>, suggesting availability across both mid-range and premium segments.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8 GB RAM smartphones</a:t>
            </a:r>
            <a:r>
              <a:rPr lang="en-US" dirty="0"/>
              <a:t> are generally priced higher, with less variation, indicating a focus on premium and performance-oriented models.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analysis helps in understanding how </a:t>
            </a:r>
            <a:r>
              <a:rPr lang="en-US" b="1" dirty="0"/>
              <a:t>RAM influences smartphone pricing</a:t>
            </a:r>
            <a:r>
              <a:rPr lang="en-US" dirty="0"/>
              <a:t> and supports </a:t>
            </a:r>
            <a:r>
              <a:rPr lang="en-US" b="1" dirty="0"/>
              <a:t>product differentiation strategies</a:t>
            </a:r>
            <a:r>
              <a:rPr lang="en-US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714" y="1392551"/>
            <a:ext cx="6096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Price vs RAM Analysis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953" y="1497036"/>
            <a:ext cx="5688731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1"/>
          <p:cNvSpPr txBox="1"/>
          <p:nvPr/>
        </p:nvSpPr>
        <p:spPr>
          <a:xfrm>
            <a:off x="247014" y="311150"/>
            <a:ext cx="119449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</a:rPr>
              <a:t>Bivariate Analysis – Relationship Between RAM and Smartphone Price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11277" y="286434"/>
            <a:ext cx="1168072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C00000"/>
                </a:solidFill>
              </a:rPr>
              <a:t>Bivariate Analysis – Relationship Between Smartphone Price and Ratings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2955" y="933093"/>
            <a:ext cx="583882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1"/>
                </a:solidFill>
              </a:rPr>
              <a:t>Price vs Ratings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scatter plot shows the </a:t>
            </a:r>
            <a:r>
              <a:rPr lang="en-US" b="1" dirty="0"/>
              <a:t>relationship between smartphone price and customer ratings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smartphones, regardless of price, receive ratings between </a:t>
            </a:r>
            <a:r>
              <a:rPr lang="en-US" b="1" dirty="0"/>
              <a:t>4.1 and 4.4</a:t>
            </a:r>
            <a:r>
              <a:rPr lang="en-US" dirty="0"/>
              <a:t>, indicating generally </a:t>
            </a:r>
            <a:r>
              <a:rPr lang="en-US" b="1" dirty="0"/>
              <a:t>positive user feedback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Higher-priced smartphones tend to have </a:t>
            </a:r>
            <a:r>
              <a:rPr lang="en-US" b="1" dirty="0"/>
              <a:t>slightly higher and more consistent ratings</a:t>
            </a:r>
            <a:r>
              <a:rPr lang="en-US" dirty="0"/>
              <a:t>, suggesting better overall user satisfaction.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Lower-priced smartphones show </a:t>
            </a:r>
            <a:r>
              <a:rPr lang="en-US" b="1" dirty="0"/>
              <a:t>greater variation in ratings</a:t>
            </a:r>
            <a:r>
              <a:rPr lang="en-US" dirty="0"/>
              <a:t>, indicating mixed customer experiences in the budget segment.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overall trend suggests a </a:t>
            </a:r>
            <a:r>
              <a:rPr lang="en-US" b="1" dirty="0"/>
              <a:t>weak positive relationship</a:t>
            </a:r>
            <a:r>
              <a:rPr lang="en-US" dirty="0"/>
              <a:t> between price and ratings, meaning higher price does not always guarantee significantly higher ratings.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analysis helps in understanding </a:t>
            </a:r>
            <a:r>
              <a:rPr lang="en-US" b="1" dirty="0"/>
              <a:t>how price influences customer satisfaction</a:t>
            </a:r>
            <a:r>
              <a:rPr lang="en-US" dirty="0"/>
              <a:t> and highlights that value-for-money devices can also receive good ratings.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52143"/>
            <a:ext cx="5838825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1422118"/>
            <a:ext cx="652861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Correlation Heatmap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heatmap displays the </a:t>
            </a:r>
            <a:r>
              <a:rPr lang="en-US" b="1" dirty="0"/>
              <a:t>correlation between smartphone features</a:t>
            </a:r>
            <a:r>
              <a:rPr lang="en-US" dirty="0"/>
              <a:t> such as RAM, ROM, Battery, Price, and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Price shows a strong positive correlation with ROM (0.82) and RAM (0.78)</a:t>
            </a:r>
            <a:r>
              <a:rPr lang="en-US" dirty="0"/>
              <a:t>, indicating that smartphones with higher storage and memory are generally priced higher.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Battery capacity has a moderate positive relationship with Price (0.56)</a:t>
            </a:r>
            <a:r>
              <a:rPr lang="en-US" dirty="0"/>
              <a:t>, suggesting that larger batteries slightly influence pricing.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Ratings are moderately correlated with Price (0.64)</a:t>
            </a:r>
            <a:r>
              <a:rPr lang="en-US" dirty="0"/>
              <a:t>, indicating that higher-priced smartphones tend to receive better user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RAM and ROM are strongly correlated (0.72)</a:t>
            </a:r>
            <a:r>
              <a:rPr lang="en-US" dirty="0"/>
              <a:t>, showing that smartphones with higher RAM usually come with higher internal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weak correlation between ROM and Battery (0.23)</a:t>
            </a:r>
            <a:r>
              <a:rPr lang="en-US" dirty="0"/>
              <a:t> suggests that storage size does not strongly depend on battery capacity.</a:t>
            </a:r>
          </a:p>
          <a:p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88489" y="148784"/>
            <a:ext cx="120150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C00000"/>
                </a:solidFill>
              </a:rPr>
              <a:t>Multivariate Analysis – Correlation Between Smartphone Specifications, Price, and Ratings</a:t>
            </a:r>
            <a:endParaRPr lang="en-US" sz="2000" dirty="0">
              <a:solidFill>
                <a:srgbClr val="C0000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619" y="927361"/>
            <a:ext cx="5663381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966452"/>
            <a:ext cx="10058400" cy="329134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/>
              <a:t>How does RAM and storage capacity affect the pricing of smartphones?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/>
              <a:t>Which price segment (Affordable, Mid-Range, or Premium) shows the highest market demand?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/>
              <a:t>Do higher-priced smartphones tend to receive better customer ratings?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/>
              <a:t>How do different smartphone brands position their devices across various price categories?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/>
              <a:t>Which technical features have the strongest impact on smartphone prices?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511277" y="688258"/>
            <a:ext cx="10156723" cy="1553497"/>
          </a:xfrm>
        </p:spPr>
        <p:txBody>
          <a:bodyPr>
            <a:normAutofit/>
          </a:bodyPr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Key Business Question  </a:t>
            </a:r>
            <a:br>
              <a:rPr lang="en-IN" dirty="0">
                <a:solidFill>
                  <a:srgbClr val="C00000"/>
                </a:solidFill>
              </a:rPr>
            </a:br>
            <a:endParaRPr lang="en-IN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IN" dirty="0">
                <a:solidFill>
                  <a:srgbClr val="C00000"/>
                </a:solidFill>
                <a:latin typeface="Bookman Old Style" panose="02050604050505020204" pitchFamily="18" charset="0"/>
              </a:rPr>
              <a:t>Experience / Challenges : </a:t>
            </a:r>
            <a:endParaRPr lang="en-IN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340075" y="125291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1900" dirty="0"/>
              <a:t>The project encountered difficulties due to frequently changing e-commerce website layouts and dynamic content, which affected data extraction.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sz="19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1900" dirty="0"/>
              <a:t>Handling missing values, inconsistent entries, and duplicate records required thorough data preprocessing to ensure reliability.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sz="19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1900" dirty="0"/>
              <a:t>Transforming raw textual information (such as prices, ratings, and specifications) into usable numerical formats was a time-intensive task.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sz="19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1900" dirty="0"/>
              <a:t>Working with a large volume of smartphone data while maintaining accuracy and consistency posed additional challenges.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sz="19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1900" dirty="0"/>
              <a:t>Overall, this project offered practical exposure to real-world data collection, cleaning, and exploratory analysis, strengthening skills in handling complex datasets.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0" y="306132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Bookman Old Style" panose="02050604050505020204" pitchFamily="18" charset="0"/>
              </a:rPr>
              <a:t>Conclusion</a:t>
            </a:r>
          </a:p>
        </p:txBody>
      </p:sp>
      <p:sp>
        <p:nvSpPr>
          <p:cNvPr id="8" name="Rectangle 1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0" y="1402715"/>
            <a:ext cx="11692255" cy="4707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/>
              <a:t>The analysis indicates that smartphone prices generally increase with higher specifications, such as RAM and storage, showing a positive relationship between features and price.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/>
              <a:t>The mid-range segment dominates the smartphone market, as it offers a good balance between performance, features, and affordability.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/>
              <a:t>Higher-priced smartphones do not always receive significantly better customer ratings, suggesting that user satisfaction depends on overall value rather than price alone.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/>
              <a:t>Price-based segmentation helps in understanding brand positioning, competitive strategies, and market targeting within the smartphone industry.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/>
              <a:t>Overall, data analysis and visualizations provide meaningful insights that help customers choose value-for-money devices, assist retailers in pricing strategies, and enable manufacturers to design products aligned with market demand.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 panose="02000000000000000000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 panose="02000000000000000000"/>
                <a:ea typeface="Libre Baskerville" panose="02000000000000000000"/>
                <a:cs typeface="Libre Baskerville" panose="02000000000000000000"/>
                <a:sym typeface="Libre Baskerville" panose="02000000000000000000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1826</Words>
  <Application>Microsoft Office PowerPoint</Application>
  <PresentationFormat>Widescreen</PresentationFormat>
  <Paragraphs>207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Calibri</vt:lpstr>
      <vt:lpstr>Bookman Old Style</vt:lpstr>
      <vt:lpstr>Arial</vt:lpstr>
      <vt:lpstr>Baskerville Old Face</vt:lpstr>
      <vt:lpstr>Wingdings</vt:lpstr>
      <vt:lpstr>Libre Baskerville</vt:lpstr>
      <vt:lpstr>Lato Black</vt:lpstr>
      <vt:lpstr>Office Theme</vt:lpstr>
      <vt:lpstr>PowerPoint Presentation</vt:lpstr>
      <vt:lpstr>PowerPoint Presentation</vt:lpstr>
      <vt:lpstr>Business Problem and Use case domain understanding </vt:lpstr>
      <vt:lpstr>PowerPoint Presentation</vt:lpstr>
      <vt:lpstr>PowerPoint Presentation</vt:lpstr>
      <vt:lpstr>PowerPoint Presentation</vt:lpstr>
      <vt:lpstr>PowerPoint Presentation</vt:lpstr>
      <vt:lpstr>Summary of the Data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Business Question   </vt:lpstr>
      <vt:lpstr>Experience / Challenges :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manikanta jedala</cp:lastModifiedBy>
  <cp:revision>19</cp:revision>
  <dcterms:created xsi:type="dcterms:W3CDTF">2021-02-16T05:19:00Z</dcterms:created>
  <dcterms:modified xsi:type="dcterms:W3CDTF">2026-01-24T02:58:15Z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0FF5B039BB7148F5AF7966B43F839598_12</vt:lpwstr>
  </property>
  <property fmtid="{D5CDD505-2E9C-101B-9397-08002B2CF9AE}" pid="3" name="KSOProductBuildVer">
    <vt:lpwstr>1033-12.2.0.23196</vt:lpwstr>
  </property>
</Properties>
</file>